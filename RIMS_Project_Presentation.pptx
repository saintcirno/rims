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by Mathew" userId="e22b245a91596f18" providerId="LiveId" clId="{952B5B36-5E01-4124-A370-1C104718B881}"/>
    <pc:docChg chg="undo custSel addSld modSld">
      <pc:chgData name="Eby Mathew" userId="e22b245a91596f18" providerId="LiveId" clId="{952B5B36-5E01-4124-A370-1C104718B881}" dt="2026-10-08T18:40:57.349" v="66" actId="207"/>
      <pc:docMkLst>
        <pc:docMk/>
      </pc:docMkLst>
      <pc:sldChg chg="addSp delSp modSp add mod">
        <pc:chgData name="Eby Mathew" userId="e22b245a91596f18" providerId="LiveId" clId="{952B5B36-5E01-4124-A370-1C104718B881}" dt="2026-10-08T18:40:57.349" v="66" actId="207"/>
        <pc:sldMkLst>
          <pc:docMk/>
          <pc:sldMk cId="4204394980" sldId="264"/>
        </pc:sldMkLst>
        <pc:spChg chg="mod">
          <ac:chgData name="Eby Mathew" userId="e22b245a91596f18" providerId="LiveId" clId="{952B5B36-5E01-4124-A370-1C104718B881}" dt="2026-10-08T18:14:08.484" v="21" actId="1076"/>
          <ac:spMkLst>
            <pc:docMk/>
            <pc:sldMk cId="4204394980" sldId="264"/>
            <ac:spMk id="2" creationId="{F68A884F-DE86-970A-2E6B-D4FDC929ED24}"/>
          </ac:spMkLst>
        </pc:spChg>
        <pc:spChg chg="del mod">
          <ac:chgData name="Eby Mathew" userId="e22b245a91596f18" providerId="LiveId" clId="{952B5B36-5E01-4124-A370-1C104718B881}" dt="2026-10-08T18:13:28.784" v="12" actId="478"/>
          <ac:spMkLst>
            <pc:docMk/>
            <pc:sldMk cId="4204394980" sldId="264"/>
            <ac:spMk id="3" creationId="{D695B6E7-88D5-5F7B-023D-189ECDF7A938}"/>
          </ac:spMkLst>
        </pc:spChg>
        <pc:spChg chg="del">
          <ac:chgData name="Eby Mathew" userId="e22b245a91596f18" providerId="LiveId" clId="{952B5B36-5E01-4124-A370-1C104718B881}" dt="2026-10-08T18:13:32.752" v="13" actId="478"/>
          <ac:spMkLst>
            <pc:docMk/>
            <pc:sldMk cId="4204394980" sldId="264"/>
            <ac:spMk id="4" creationId="{60A80017-5FB6-470B-26E0-335075891ABB}"/>
          </ac:spMkLst>
        </pc:spChg>
        <pc:spChg chg="del">
          <ac:chgData name="Eby Mathew" userId="e22b245a91596f18" providerId="LiveId" clId="{952B5B36-5E01-4124-A370-1C104718B881}" dt="2026-10-08T18:13:37.307" v="14" actId="478"/>
          <ac:spMkLst>
            <pc:docMk/>
            <pc:sldMk cId="4204394980" sldId="264"/>
            <ac:spMk id="5" creationId="{59F15DDA-1EB4-1A55-A5AD-E55B923E5386}"/>
          </ac:spMkLst>
        </pc:spChg>
        <pc:spChg chg="del">
          <ac:chgData name="Eby Mathew" userId="e22b245a91596f18" providerId="LiveId" clId="{952B5B36-5E01-4124-A370-1C104718B881}" dt="2026-10-08T18:13:41.163" v="15" actId="478"/>
          <ac:spMkLst>
            <pc:docMk/>
            <pc:sldMk cId="4204394980" sldId="264"/>
            <ac:spMk id="6" creationId="{728E1106-B7B3-0B10-4E4C-1EF3A93DE87A}"/>
          </ac:spMkLst>
        </pc:spChg>
        <pc:spChg chg="del">
          <ac:chgData name="Eby Mathew" userId="e22b245a91596f18" providerId="LiveId" clId="{952B5B36-5E01-4124-A370-1C104718B881}" dt="2026-10-08T18:13:56.716" v="17" actId="478"/>
          <ac:spMkLst>
            <pc:docMk/>
            <pc:sldMk cId="4204394980" sldId="264"/>
            <ac:spMk id="7" creationId="{06FBEF92-8B3E-BA7A-55B8-AD78C2989D7F}"/>
          </ac:spMkLst>
        </pc:spChg>
        <pc:spChg chg="del">
          <ac:chgData name="Eby Mathew" userId="e22b245a91596f18" providerId="LiveId" clId="{952B5B36-5E01-4124-A370-1C104718B881}" dt="2026-10-08T18:14:00.326" v="18" actId="478"/>
          <ac:spMkLst>
            <pc:docMk/>
            <pc:sldMk cId="4204394980" sldId="264"/>
            <ac:spMk id="8" creationId="{5D666279-1AF0-D4CB-08A1-1EB29C3DDF87}"/>
          </ac:spMkLst>
        </pc:spChg>
        <pc:spChg chg="add del">
          <ac:chgData name="Eby Mathew" userId="e22b245a91596f18" providerId="LiveId" clId="{952B5B36-5E01-4124-A370-1C104718B881}" dt="2026-10-08T18:14:11.877" v="23" actId="478"/>
          <ac:spMkLst>
            <pc:docMk/>
            <pc:sldMk cId="4204394980" sldId="264"/>
            <ac:spMk id="9" creationId="{C7366147-A0D5-BEC9-258B-0E0550BA4F12}"/>
          </ac:spMkLst>
        </pc:spChg>
        <pc:spChg chg="del mod">
          <ac:chgData name="Eby Mathew" userId="e22b245a91596f18" providerId="LiveId" clId="{952B5B36-5E01-4124-A370-1C104718B881}" dt="2026-10-08T18:14:17.817" v="25" actId="478"/>
          <ac:spMkLst>
            <pc:docMk/>
            <pc:sldMk cId="4204394980" sldId="264"/>
            <ac:spMk id="10" creationId="{B8847609-9D38-3687-01F2-9DAA04DB23CB}"/>
          </ac:spMkLst>
        </pc:spChg>
        <pc:spChg chg="del">
          <ac:chgData name="Eby Mathew" userId="e22b245a91596f18" providerId="LiveId" clId="{952B5B36-5E01-4124-A370-1C104718B881}" dt="2026-10-08T18:14:22.836" v="27" actId="478"/>
          <ac:spMkLst>
            <pc:docMk/>
            <pc:sldMk cId="4204394980" sldId="264"/>
            <ac:spMk id="11" creationId="{F203D92E-9C11-5483-F665-8032335CF96F}"/>
          </ac:spMkLst>
        </pc:spChg>
        <pc:spChg chg="del">
          <ac:chgData name="Eby Mathew" userId="e22b245a91596f18" providerId="LiveId" clId="{952B5B36-5E01-4124-A370-1C104718B881}" dt="2026-10-08T18:14:19.794" v="26" actId="478"/>
          <ac:spMkLst>
            <pc:docMk/>
            <pc:sldMk cId="4204394980" sldId="264"/>
            <ac:spMk id="12" creationId="{74CD125D-BA05-CB87-C7F9-F6C6060C7DE6}"/>
          </ac:spMkLst>
        </pc:spChg>
        <pc:spChg chg="del">
          <ac:chgData name="Eby Mathew" userId="e22b245a91596f18" providerId="LiveId" clId="{952B5B36-5E01-4124-A370-1C104718B881}" dt="2026-10-08T18:13:10.427" v="2" actId="478"/>
          <ac:spMkLst>
            <pc:docMk/>
            <pc:sldMk cId="4204394980" sldId="264"/>
            <ac:spMk id="13" creationId="{2D1F97F5-9C43-C929-31D4-FC5D8824FE26}"/>
          </ac:spMkLst>
        </pc:spChg>
        <pc:spChg chg="del">
          <ac:chgData name="Eby Mathew" userId="e22b245a91596f18" providerId="LiveId" clId="{952B5B36-5E01-4124-A370-1C104718B881}" dt="2026-10-08T18:13:08.347" v="1" actId="478"/>
          <ac:spMkLst>
            <pc:docMk/>
            <pc:sldMk cId="4204394980" sldId="264"/>
            <ac:spMk id="14" creationId="{619AFBE9-83E8-9AC4-D2FD-3B1D982E717F}"/>
          </ac:spMkLst>
        </pc:spChg>
        <pc:spChg chg="mod">
          <ac:chgData name="Eby Mathew" userId="e22b245a91596f18" providerId="LiveId" clId="{952B5B36-5E01-4124-A370-1C104718B881}" dt="2026-10-08T18:16:54.483" v="56" actId="1076"/>
          <ac:spMkLst>
            <pc:docMk/>
            <pc:sldMk cId="4204394980" sldId="264"/>
            <ac:spMk id="15" creationId="{B52B36C9-4EA4-F0DD-EB14-C90EA0C9A07B}"/>
          </ac:spMkLst>
        </pc:spChg>
        <pc:spChg chg="del">
          <ac:chgData name="Eby Mathew" userId="e22b245a91596f18" providerId="LiveId" clId="{952B5B36-5E01-4124-A370-1C104718B881}" dt="2026-10-08T18:13:43.895" v="16" actId="478"/>
          <ac:spMkLst>
            <pc:docMk/>
            <pc:sldMk cId="4204394980" sldId="264"/>
            <ac:spMk id="16" creationId="{ADF6BB96-2D3B-1958-D239-6AB874476CEA}"/>
          </ac:spMkLst>
        </pc:spChg>
        <pc:spChg chg="del">
          <ac:chgData name="Eby Mathew" userId="e22b245a91596f18" providerId="LiveId" clId="{952B5B36-5E01-4124-A370-1C104718B881}" dt="2026-10-08T18:14:30.279" v="29" actId="478"/>
          <ac:spMkLst>
            <pc:docMk/>
            <pc:sldMk cId="4204394980" sldId="264"/>
            <ac:spMk id="17" creationId="{AC871698-C0B6-5B8F-5DAA-28FBBF802511}"/>
          </ac:spMkLst>
        </pc:spChg>
        <pc:spChg chg="del">
          <ac:chgData name="Eby Mathew" userId="e22b245a91596f18" providerId="LiveId" clId="{952B5B36-5E01-4124-A370-1C104718B881}" dt="2026-10-08T18:14:28.691" v="28" actId="478"/>
          <ac:spMkLst>
            <pc:docMk/>
            <pc:sldMk cId="4204394980" sldId="264"/>
            <ac:spMk id="18" creationId="{C9D98BB6-56C3-8097-649E-DD596CEACEEF}"/>
          </ac:spMkLst>
        </pc:spChg>
        <pc:spChg chg="del mod">
          <ac:chgData name="Eby Mathew" userId="e22b245a91596f18" providerId="LiveId" clId="{952B5B36-5E01-4124-A370-1C104718B881}" dt="2026-10-08T18:15:15.583" v="35" actId="478"/>
          <ac:spMkLst>
            <pc:docMk/>
            <pc:sldMk cId="4204394980" sldId="264"/>
            <ac:spMk id="19" creationId="{E944F4D0-C63A-12C2-0952-3835A9A653A0}"/>
          </ac:spMkLst>
        </pc:spChg>
        <pc:spChg chg="add mod">
          <ac:chgData name="Eby Mathew" userId="e22b245a91596f18" providerId="LiveId" clId="{952B5B36-5E01-4124-A370-1C104718B881}" dt="2026-10-08T18:40:57.349" v="66" actId="207"/>
          <ac:spMkLst>
            <pc:docMk/>
            <pc:sldMk cId="4204394980" sldId="264"/>
            <ac:spMk id="20" creationId="{60758477-531A-9D14-DF60-D115964A6B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999713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45920" y="1463040"/>
            <a:ext cx="82296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691640"/>
            <a:ext cx="29260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ENTERPRISE ASSET LEASING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1460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RIMS — Rental Item Management System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 high-precision web platform for institutional equipment providers and clients featuring transparent daily billing, automated Razorpay escrow deposits, and closed-loop inventory restocking.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389120"/>
            <a:ext cx="205740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JAVA 21 &amp; 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389120"/>
            <a:ext cx="205740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SQL PERSISTENT DB (H2 / PG)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205740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RAZORPAY ESCROW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389120"/>
            <a:ext cx="205740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ROLE-BASED ACCOUNTS (3 PORTALS)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983480"/>
            <a:ext cx="8869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Architecture, Core Features &amp; Operational Walkthrough  •  Production-Ready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Operational Problem vs. The RIMS Solution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Transforming fragmented, high-friction rental management into an institutional-grade automated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874519"/>
            <a:ext cx="2194560" cy="292608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CONVENTIONAL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 Untracked Physical Inventory Drift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Items get rented and returned informally without real-time database stock restoration, causing double bookings and stockout errors.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 Escrow &amp; Deposit Disputes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Lack of clear separation between rental charges and security deposits creates financial confusion and delayed deposit refunds.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 No Tamper-Proof Audit Trail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If equipment details or prices change, historical customer receipts and seller ledgers get corrupted or lost.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 Lack of Role Isolation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Administrative and seller tools are often mixed, creating security vulnerabilities and data leakage across organizations.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2103120" cy="292608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THE RIMS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✓  Closed-Loop Stock Replenishment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When vendors verify hardware serials and click check-in, available inventory stock is immediately restored in the database (+Qty).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Dual-Component Escrow Ledger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Clear distinction between Duration Rental Fees and Escrow Security Deposit. Deposits are locked during lease and auto-refunded upon return.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Immutable SKU Order Snapshots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Product codes and names are snapshotted onto order records at checkout, guaranteeing lifetime audit integrity.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✓  Strict Role-Based Multi-Portal Routing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 Dedicated access portals for Buyers, Institutional Sellers, and SUDO Admin with session interception and BCrypt hashing.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ECOSYSTEM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Three Dedicated Stakeholder Portals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Tailored capabilities designed for Clients, Institutional Equipment Providers, and Root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0632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CUSTOMER /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Client Equipment Portal</a:t>
            </a:r>
          </a:p>
          <a:p>
            <a:pPr>
              <a:defRPr sz="900" b="1">
                <a:solidFill>
                  <a:srgbClr val="2563EB"/>
                </a:solidFill>
              </a:defRPr>
            </a:pPr>
            <a:r>
              <a:t>Portal: /login/buyer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Catalog Discovery: Multi-category navigation, live keyword search, tag clouds (#8K, #Cinema).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Hover-Reveal Cards: Interactive 3D CSS perspective overlays reveal full technical specifications.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Smart Duration Cart: Select start and return dates; dynamic cost calculator ensures transparent pricing.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Order Receipts &amp; Confetti: Printable transaction invoice with Razorpay payment tracking.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Equipment Return Handover: Initiate return directly from receipt with courier tracking / AWB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2856" y="1783080"/>
            <a:ext cx="306324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54296" y="2011680"/>
            <a:ext cx="20116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INSTITUTIONAL SELLER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3774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Vendor Fleet &amp; Restock Hub</a:t>
            </a:r>
          </a:p>
          <a:p>
            <a:pPr>
              <a:defRPr sz="900" b="1">
                <a:solidFill>
                  <a:srgbClr val="4F46E5"/>
                </a:solidFill>
              </a:defRPr>
            </a:pPr>
            <a:r>
              <a:t>Portal: /login/seller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0175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Single &amp; Batch Registration: Register single items or dynamic multi-row bulk items simultaneously.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Multi-Photo Galleries: Upload multiple high-res image URLs with primary thumbnail preview.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Fleet Inventory Controls: Real-time stock counts and one-click Publish/Pause toggle.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Deployment Audit: Complete audit log of who rented what, lease dates, and earnings.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Check-in &amp; Restock (+Qty): One-click return verification restoring hardware stock to inventory.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6324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48472" y="2011680"/>
            <a:ext cx="2011680" cy="274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</a:defRPr>
            </a:pPr>
            <a:r>
              <a:t>SUDO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3774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Root Command Terminal</a:t>
            </a:r>
          </a:p>
          <a:p>
            <a:pPr>
              <a:defRPr sz="900" b="1">
                <a:solidFill>
                  <a:srgbClr val="7C3AED"/>
                </a:solidFill>
              </a:defRPr>
            </a:pPr>
            <a:r>
              <a:t>Portal: /login/admin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0175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Platform Telemetry: Total registered users, inventory items, order volume, and gross turnover.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Universal User DB Inspection: Inspect every SQL row including Name, Role, Org, Phone, Address &amp; Hash.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Master Delisting Authority: One-click action to permanently purge or delist inappropriate items.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Platform Orders Ledger: Global visibility over all transactions, Razorpay IDs, and handover statuses.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ENGINEERING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Multi-Tiered Enterprise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 clean separation of concerns built on modern Java 21, Spring Boot 3, and relational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6400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PRESENTATION &amp; UI TIER</a:t>
            </a:r>
          </a:p>
          <a:p>
            <a:pPr>
              <a:spcBef>
                <a:spcPts val="400"/>
              </a:spcBef>
              <a:defRPr sz="850" b="1">
                <a:solidFill>
                  <a:srgbClr val="2563EB"/>
                </a:solidFill>
              </a:defRPr>
            </a:pPr>
            <a:r>
              <a:t>Thymeleaf • Tailwind CSS • Lucide Icons • Canvas Confetti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19">
                <a:solidFill>
                  <a:srgbClr val="334155"/>
                </a:solidFill>
              </a:defRPr>
            </a:pPr>
            <a:r>
              <a:t>Responsive server-rendered views with client-side reactive dark/light mode toggle. Glassmorphic navigation headers and interactive CSS 3D perspective hover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66744" y="1874519"/>
            <a:ext cx="640080" cy="3657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SECURITY &amp; SESSION GATEWAY</a:t>
            </a:r>
          </a:p>
          <a:p>
            <a:pPr>
              <a:spcBef>
                <a:spcPts val="400"/>
              </a:spcBef>
              <a:defRPr sz="850" b="1">
                <a:solidFill>
                  <a:srgbClr val="7C3AED"/>
                </a:solidFill>
              </a:defRPr>
            </a:pPr>
            <a:r>
              <a:t>AuthInterceptor • Role-Based Access Control • BCrypt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56616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19">
                <a:solidFill>
                  <a:srgbClr val="334155"/>
                </a:solidFill>
              </a:defRPr>
            </a:pPr>
            <a:r>
              <a:t>Custom HTTP session interceptor routes and gates endpoints (/buyer/**, /seller/**, /admin/**). Passwords hashed using industry-standard BCrypt encoders.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19088" y="1874519"/>
            <a:ext cx="64008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BUSINESS LOGIC SERVICES</a:t>
            </a:r>
          </a:p>
          <a:p>
            <a:pPr>
              <a:spcBef>
                <a:spcPts val="400"/>
              </a:spcBef>
              <a:defRPr sz="850" b="1">
                <a:solidFill>
                  <a:srgbClr val="4F46E5"/>
                </a:solidFill>
              </a:defRPr>
            </a:pPr>
            <a:r>
              <a:t>RentalService • ItemService • UserService • PaymentService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56616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19">
                <a:solidFill>
                  <a:srgbClr val="334155"/>
                </a:solidFill>
              </a:defRPr>
            </a:pPr>
            <a:r>
              <a:t>Transactional business workflows handling SKU auto-generation, duration calculations, Razorpay HMAC-SHA256 signature verification, and stock delta restoration.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71432" y="1874519"/>
            <a:ext cx="64008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PERSISTENCE &amp; SQL ENGINE</a:t>
            </a:r>
          </a:p>
          <a:p>
            <a:pPr>
              <a:spcBef>
                <a:spcPts val="400"/>
              </a:spcBef>
              <a:defRPr sz="850" b="1">
                <a:solidFill>
                  <a:srgbClr val="10B981"/>
                </a:solidFill>
              </a:defRPr>
            </a:pPr>
            <a:r>
              <a:t>Spring Data JPA • Hibernate 6 • H2 Persistent File /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56616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919">
                <a:solidFill>
                  <a:srgbClr val="334155"/>
                </a:solidFill>
              </a:defRPr>
            </a:pPr>
            <a:r>
              <a:t>High-performance ORM with automatic DDL updates. Embedded file-backed H2 SQL database stored at ./data/rimsdb; instant zero-code pluggability for PostgreSQL.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LIFECYCLE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Asset Rental &amp; Return Workflow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 synchronized 4-stage lifecycle ensuring physical equipment traceability and automated financial escrow.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0972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Discovery &amp; Cart Setup</a:t>
            </a:r>
          </a:p>
          <a:p>
            <a:pPr>
              <a:defRPr sz="850" b="1">
                <a:solidFill>
                  <a:srgbClr val="2563EB"/>
                </a:solidFill>
              </a:defRPr>
            </a:pPr>
            <a:r>
              <a:t>Actor: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filters catalog by category or tags.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Hover preview inspects technical specifications.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selects Start Date &amp; Return Date.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Duration calculated in days (Min 1 day).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Rent fee &amp; escrow deposit computed.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66744" y="1874519"/>
            <a:ext cx="109728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240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Razorpay Escrow Payment</a:t>
            </a:r>
          </a:p>
          <a:p>
            <a:pPr>
              <a:defRPr sz="850" b="1">
                <a:solidFill>
                  <a:srgbClr val="D97706"/>
                </a:solidFill>
              </a:defRPr>
            </a:pPr>
            <a:r>
              <a:t>Actor: PAYMENT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1089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submits site &amp; dispatch instructions.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Order created in Razorpay Gateway.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completes transaction securely.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System validates HMAC-SHA256 signature.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Database decrements item available stock.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19088" y="1874519"/>
            <a:ext cx="10972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40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Handover &amp; Return Request</a:t>
            </a:r>
          </a:p>
          <a:p>
            <a:pPr>
              <a:defRPr sz="850" b="1">
                <a:solidFill>
                  <a:srgbClr val="4F46E5"/>
                </a:solidFill>
              </a:defRPr>
            </a:pPr>
            <a:r>
              <a:t>Actor: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089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Equipment is actively deployed on site.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Production completes hardware usage.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Client initiates return on digital receipt.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Optional courier AWB / waybill notes logged.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Order status transitions to RETURN_REQUESTED.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71432" y="1874519"/>
            <a:ext cx="10972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2402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Check-in &amp; Restocking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Actor: SELLER &amp; ESCROW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10896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Seller receives RETURN INITIATED pulse alert.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Vendor verifies physical serial numbers.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Clicks 'Check-in &amp; Restock (+Qty)'.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Item stock replenished instantly in DB.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Order marked RETURNED &amp; deposit released.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FINANCIAL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Dual-Component Pricing &amp; Escrow Security Engine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 mathematical structure ensuring fair vendor earnings and transparent client deposit protections.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Billing Formula</a:t>
            </a:r>
          </a:p>
          <a:p>
            <a:pPr>
              <a:spcAft>
                <a:spcPts val="1000"/>
              </a:spcAft>
              <a:defRPr sz="950">
                <a:solidFill>
                  <a:srgbClr val="64748B"/>
                </a:solidFill>
              </a:defRPr>
            </a:pPr>
            <a:r>
              <a:t>RIMS splits every booking into two independent ledgers: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1. Duration (Days)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   Days = max(1, ReturnDate - StartDate)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2. Daily Rental Fee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   RentalFee = PricePerDay × Quantity × Days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3. Escrow Security Deposit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   Deposit = DepositPerUnit × Quantity (held in escrow)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4. Grand Total Settled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   Total Payable = RentalFee + Escrow Deposit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Production Case Study: RIMS-ORD-948210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5-Day Cinema Equipment Lease by Alexander Wright: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RED V-Raptor XL 8K Package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1 Unit  •  Rate: ₹450/day  •  Deposit: ₹1,500/unit</a:t>
            </a:r>
          </a:p>
          <a:p>
            <a:pPr>
              <a:spcAft>
                <a:spcPts val="400"/>
              </a:spcAft>
              <a:defRPr sz="880" b="1">
                <a:solidFill>
                  <a:srgbClr val="0F172A"/>
                </a:solidFill>
              </a:defRPr>
            </a:pPr>
            <a:r>
              <a:t>  Rent: ₹2,250.00  |  Deposit: ₹1,500.00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ARRI Orbiter 500W LED Fixture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2 Units •  Rate: ₹180/day  •  Deposit: ₹600/unit</a:t>
            </a:r>
          </a:p>
          <a:p>
            <a:pPr>
              <a:spcAft>
                <a:spcPts val="400"/>
              </a:spcAft>
              <a:defRPr sz="880" b="1">
                <a:solidFill>
                  <a:srgbClr val="0F172A"/>
                </a:solidFill>
              </a:defRPr>
            </a:pPr>
            <a:r>
              <a:t>  Rent: ₹1,800.00  |  Deposit: ₹1,200.00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Financial Totals Settled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Rental Charges: ₹4,050.00  •  Escrow Deposit: ₹2,700.00</a:t>
            </a:r>
          </a:p>
          <a:p>
            <a:pPr>
              <a:spcAft>
                <a:spcPts val="400"/>
              </a:spcAft>
              <a:defRPr sz="880" b="1">
                <a:solidFill>
                  <a:srgbClr val="0F172A"/>
                </a:solidFill>
              </a:defRPr>
            </a:pPr>
            <a:r>
              <a:t>  Total Paid via Razorpay: ₹6,750.00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• Post-Return Lifecycle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  Seller confirms serial inspection: ₹4,050 kept as revenue.</a:t>
            </a:r>
          </a:p>
          <a:p>
            <a:pPr>
              <a:spcAft>
                <a:spcPts val="400"/>
              </a:spcAft>
              <a:defRPr sz="880" b="1">
                <a:solidFill>
                  <a:srgbClr val="0F172A"/>
                </a:solidFill>
              </a:defRPr>
            </a:pPr>
            <a:r>
              <a:t>  ₹2,700.00 Escrow Deposit released to buyer.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CORE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Architectural &amp; Feature Innovations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Four engineering solutions built into RIMS that guarantee data integrity, speed, and usability.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828800"/>
            <a:ext cx="1188720" cy="25603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4F46E5"/>
                </a:solidFill>
              </a:defRPr>
            </a:pPr>
            <a:r>
              <a:t>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Immutable SKU Snapshots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Traditional e-commerce platforms break historical orders when items get updated. RIMS writes immutable snapshots (itemCodeSnapshot, itemNameSnapshot) at checkout, preserving exact historical audit trails forever.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11887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Dynamic Batch Onboarding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Institutional sellers often manage dozens of assets. The batch registration engine dynamically scales client-side form rows, submitting multi-part arrays in one atomic @Transactional operation with auto-SKU 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4206240"/>
            <a:ext cx="1188720" cy="2560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Closed-Loop Stock Check-in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When customers return assets and sellers confirm receipt, the system dynamically increments available stock. Full orders transition to RETURNED, eliminating inventory drift and enabling instant re-leasing.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4206240"/>
            <a:ext cx="1188720" cy="25603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7C3AED"/>
                </a:solidFill>
              </a:defRPr>
            </a:pPr>
            <a: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Complete User Database Audit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The SUDO Admin terminal grants root visibility across all registered entities—including verified organizations, physical depot addresses, contact numbers, and access credentials—ensuring absolute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F46E5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Operational Readiness &amp; Deployment Summary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Key execution metrics, enterprise configuration highlights, and rapid deployment options.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 PORTALS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Customer, Seller &amp;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645920"/>
            <a:ext cx="2468880" cy="10972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ZERO DB SETUP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Embedded Persistent H2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246888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LIVE RAZORPAY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Production &amp; Simulation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645920"/>
            <a:ext cx="2468880" cy="10972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79992" y="1783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JAVA 21 / SB 3</a:t>
            </a:r>
          </a:p>
          <a:p>
            <a:pPr algn="ctr">
              <a:defRPr sz="900">
                <a:solidFill>
                  <a:srgbClr val="0F172A"/>
                </a:solidFill>
              </a:defRPr>
            </a:pPr>
            <a:r>
              <a:t>Modern Spring Ecosystem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2120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Deployment &amp; Execution Modes</a:t>
            </a:r>
          </a:p>
          <a:p>
            <a:pPr>
              <a:spcBef>
                <a:spcPts val="300"/>
              </a:spcBef>
              <a:defRPr sz="950" b="1">
                <a:solidFill>
                  <a:srgbClr val="4F46E5"/>
                </a:solidFill>
              </a:defRPr>
            </a:pPr>
            <a:r>
              <a:t>• Maven Direct Run: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mvn spring-boot:run (runs instantaneously on port 8080)</a:t>
            </a:r>
          </a:p>
          <a:p>
            <a:pPr>
              <a:spcBef>
                <a:spcPts val="300"/>
              </a:spcBef>
              <a:defRPr sz="950" b="1">
                <a:solidFill>
                  <a:srgbClr val="4F46E5"/>
                </a:solidFill>
              </a:defRPr>
            </a:pPr>
            <a:r>
              <a:t>• Standalone Executable JAR: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java -jar target/rental-item-management-1.0.0.jar</a:t>
            </a:r>
          </a:p>
          <a:p>
            <a:pPr>
              <a:spcBef>
                <a:spcPts val="300"/>
              </a:spcBef>
              <a:defRPr sz="950" b="1">
                <a:solidFill>
                  <a:srgbClr val="4F46E5"/>
                </a:solidFill>
              </a:defRPr>
            </a:pPr>
            <a:r>
              <a:t>• Persistent Local Storage: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File-based H2 database persists data in ./data/rimsdb across restarts.</a:t>
            </a:r>
          </a:p>
          <a:p>
            <a:pPr>
              <a:spcBef>
                <a:spcPts val="300"/>
              </a:spcBef>
              <a:defRPr sz="950" b="1">
                <a:solidFill>
                  <a:srgbClr val="4F46E5"/>
                </a:solidFill>
              </a:defRPr>
            </a:pPr>
            <a:r>
              <a:t>• PostgreSQL Transition: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Switch datasource URL in application.properties without any code refactoring.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71800"/>
            <a:ext cx="521208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Executive Summary &amp; Value Delivered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✓ Complete Hardware Transparency: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Every rented unit has an individual SKU, photo gallery, and depot address.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✓ Escrow Protection: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Customer deposits are guaranteed, held safely, and refunded seamlessly.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✓ Autonomous Restocking: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Eliminates administrative overhead by restoring stock upon vendor check-in.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✓ Modern Minimalist Aesthetic: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   Premium monochrome design with instant Dark/Light mode responsiveness.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RIMS — Rental Item Management System  •  Enterprise Architecture &amp; Executive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6072-2A5F-B18B-8DD5-5EA950DB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8A884F-DE86-970A-2E6B-D4FDC929ED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52B36C9-4EA4-F0DD-EB14-C90EA0C9A07B}"/>
              </a:ext>
            </a:extLst>
          </p:cNvPr>
          <p:cNvSpPr/>
          <p:nvPr/>
        </p:nvSpPr>
        <p:spPr>
          <a:xfrm>
            <a:off x="1186222" y="1851660"/>
            <a:ext cx="9819250" cy="3154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58477-531A-9D14-DF60-D115964A6BB8}"/>
              </a:ext>
            </a:extLst>
          </p:cNvPr>
          <p:cNvSpPr txBox="1"/>
          <p:nvPr/>
        </p:nvSpPr>
        <p:spPr>
          <a:xfrm>
            <a:off x="1884443" y="2644170"/>
            <a:ext cx="84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0066FF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439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1666</Words>
  <Application>Microsoft Office PowerPoint</Application>
  <PresentationFormat>Widescreen</PresentationFormat>
  <Paragraphs>198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Eby Mathew</cp:lastModifiedBy>
  <cp:revision>1</cp:revision>
  <dcterms:created xsi:type="dcterms:W3CDTF">2013-01-27T09:14:16Z</dcterms:created>
  <dcterms:modified xsi:type="dcterms:W3CDTF">2026-10-08T18:41:24Z</dcterms:modified>
  <cp:category/>
</cp:coreProperties>
</file>