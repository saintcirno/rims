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by Mathew" userId="e22b245a91596f18" providerId="LiveId" clId="{952B5B36-5E01-4124-A370-1C104718B881}"/>
    <pc:docChg chg="undo redo custSel modSld">
      <pc:chgData name="Eby Mathew" userId="e22b245a91596f18" providerId="LiveId" clId="{952B5B36-5E01-4124-A370-1C104718B881}" dt="2026-10-08T18:39:28.835" v="85" actId="20577"/>
      <pc:docMkLst>
        <pc:docMk/>
      </pc:docMkLst>
      <pc:sldChg chg="modSp mod">
        <pc:chgData name="Eby Mathew" userId="e22b245a91596f18" providerId="LiveId" clId="{952B5B36-5E01-4124-A370-1C104718B881}" dt="2026-10-08T18:39:28.835" v="85" actId="20577"/>
        <pc:sldMkLst>
          <pc:docMk/>
          <pc:sldMk cId="0" sldId="256"/>
        </pc:sldMkLst>
        <pc:spChg chg="mod">
          <ac:chgData name="Eby Mathew" userId="e22b245a91596f18" providerId="LiveId" clId="{952B5B36-5E01-4124-A370-1C104718B881}" dt="2026-10-08T18:29:46.322" v="7" actId="1410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Eby Mathew" userId="e22b245a91596f18" providerId="LiveId" clId="{952B5B36-5E01-4124-A370-1C104718B881}" dt="2026-10-08T18:30:09.116" v="11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Eby Mathew" userId="e22b245a91596f18" providerId="LiveId" clId="{952B5B36-5E01-4124-A370-1C104718B881}" dt="2026-10-08T18:39:28.835" v="85" actId="20577"/>
          <ac:spMkLst>
            <pc:docMk/>
            <pc:sldMk cId="0" sldId="256"/>
            <ac:spMk id="13" creationId="{00000000-0000-0000-0000-000000000000}"/>
          </ac:spMkLst>
        </pc:spChg>
      </pc:sldChg>
      <pc:sldChg chg="delSp modSp mod">
        <pc:chgData name="Eby Mathew" userId="e22b245a91596f18" providerId="LiveId" clId="{952B5B36-5E01-4124-A370-1C104718B881}" dt="2026-10-08T18:38:05.995" v="60" actId="1076"/>
        <pc:sldMkLst>
          <pc:docMk/>
          <pc:sldMk cId="0" sldId="263"/>
        </pc:sldMkLst>
        <pc:spChg chg="mod">
          <ac:chgData name="Eby Mathew" userId="e22b245a91596f18" providerId="LiveId" clId="{952B5B36-5E01-4124-A370-1C104718B881}" dt="2026-10-08T18:36:29.342" v="51" actId="1035"/>
          <ac:spMkLst>
            <pc:docMk/>
            <pc:sldMk cId="0" sldId="263"/>
            <ac:spMk id="2" creationId="{00000000-0000-0000-0000-000000000000}"/>
          </ac:spMkLst>
        </pc:spChg>
        <pc:spChg chg="del">
          <ac:chgData name="Eby Mathew" userId="e22b245a91596f18" providerId="LiveId" clId="{952B5B36-5E01-4124-A370-1C104718B881}" dt="2026-10-08T18:32:57.881" v="21" actId="478"/>
          <ac:spMkLst>
            <pc:docMk/>
            <pc:sldMk cId="0" sldId="263"/>
            <ac:spMk id="3" creationId="{00000000-0000-0000-0000-000000000000}"/>
          </ac:spMkLst>
        </pc:spChg>
        <pc:spChg chg="del">
          <ac:chgData name="Eby Mathew" userId="e22b245a91596f18" providerId="LiveId" clId="{952B5B36-5E01-4124-A370-1C104718B881}" dt="2026-10-08T18:31:40.797" v="15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Eby Mathew" userId="e22b245a91596f18" providerId="LiveId" clId="{952B5B36-5E01-4124-A370-1C104718B881}" dt="2026-10-08T18:33:00.092" v="22" actId="478"/>
          <ac:spMkLst>
            <pc:docMk/>
            <pc:sldMk cId="0" sldId="263"/>
            <ac:spMk id="5" creationId="{00000000-0000-0000-0000-000000000000}"/>
          </ac:spMkLst>
        </pc:spChg>
        <pc:spChg chg="mod">
          <ac:chgData name="Eby Mathew" userId="e22b245a91596f18" providerId="LiveId" clId="{952B5B36-5E01-4124-A370-1C104718B881}" dt="2026-10-08T18:38:05.995" v="60" actId="1076"/>
          <ac:spMkLst>
            <pc:docMk/>
            <pc:sldMk cId="0" sldId="263"/>
            <ac:spMk id="6" creationId="{00000000-0000-0000-0000-000000000000}"/>
          </ac:spMkLst>
        </pc:spChg>
        <pc:spChg chg="del">
          <ac:chgData name="Eby Mathew" userId="e22b245a91596f18" providerId="LiveId" clId="{952B5B36-5E01-4124-A370-1C104718B881}" dt="2026-10-08T18:31:59.711" v="16" actId="478"/>
          <ac:spMkLst>
            <pc:docMk/>
            <pc:sldMk cId="0" sldId="263"/>
            <ac:spMk id="7" creationId="{00000000-0000-0000-0000-000000000000}"/>
          </ac:spMkLst>
        </pc:spChg>
        <pc:spChg chg="del mod">
          <ac:chgData name="Eby Mathew" userId="e22b245a91596f18" providerId="LiveId" clId="{952B5B36-5E01-4124-A370-1C104718B881}" dt="2026-10-08T18:32:08.216" v="18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Eby Mathew" userId="e22b245a91596f18" providerId="LiveId" clId="{952B5B36-5E01-4124-A370-1C104718B881}" dt="2026-10-08T18:32:11.698" v="19" actId="478"/>
          <ac:spMkLst>
            <pc:docMk/>
            <pc:sldMk cId="0" sldId="263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728655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88720" y="1188720"/>
            <a:ext cx="777240" cy="7772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1417320"/>
            <a:ext cx="292608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WEB APPLICATION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4884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RIMS — Rental Item</a:t>
            </a:r>
            <a:br/>
            <a:r>
              <a:t>Management System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Enterprise Hardware Leasing Platform with Dynamic Duration Billing, Escrow Protection &amp; Automated Restocking.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846320"/>
            <a:ext cx="201168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</a:defRPr>
            </a:pPr>
            <a:r>
              <a:t>JAVA 21 &amp; SPRING BOOT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4846320"/>
            <a:ext cx="201168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SQL DATABASE (H2 / POSTGRES)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4846320"/>
            <a:ext cx="2011680" cy="3657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RAZORPAY GATEWAY ESCROW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41743" y="3794760"/>
            <a:ext cx="2493897" cy="168301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16410" y="3936514"/>
            <a:ext cx="1691640" cy="42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dirty="0"/>
              <a:t>PROJECT TEAM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dirty="0"/>
              <a:t>Presented by: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6410" y="4359707"/>
            <a:ext cx="2294213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rPr dirty="0"/>
              <a:t>1. [</a:t>
            </a:r>
            <a:r>
              <a:rPr lang="en-IN" dirty="0"/>
              <a:t>Teammate 1</a:t>
            </a:r>
            <a:r>
              <a:rPr dirty="0"/>
              <a:t>] — Project Lead</a:t>
            </a:r>
          </a:p>
          <a:p>
            <a:pPr>
              <a:spcBef>
                <a:spcPts val="500"/>
              </a:spcBef>
              <a:defRPr sz="1100" b="0">
                <a:solidFill>
                  <a:srgbClr val="0F172A"/>
                </a:solidFill>
                <a:latin typeface="Segoe UI"/>
              </a:defRPr>
            </a:pPr>
            <a:r>
              <a:rPr dirty="0"/>
              <a:t>2. [Teammate </a:t>
            </a:r>
            <a:r>
              <a:rPr lang="en-IN" dirty="0"/>
              <a:t>2</a:t>
            </a:r>
            <a:r>
              <a:rPr dirty="0"/>
              <a:t> Name]</a:t>
            </a:r>
          </a:p>
          <a:p>
            <a:pPr>
              <a:spcBef>
                <a:spcPts val="500"/>
              </a:spcBef>
              <a:defRPr sz="1100" b="0">
                <a:solidFill>
                  <a:srgbClr val="0F172A"/>
                </a:solidFill>
                <a:latin typeface="Segoe UI"/>
              </a:defRPr>
            </a:pPr>
            <a:r>
              <a:rPr dirty="0"/>
              <a:t>3. [Teammate </a:t>
            </a:r>
            <a:r>
              <a:rPr lang="en-IN" dirty="0"/>
              <a:t>3</a:t>
            </a:r>
            <a:r>
              <a:rPr dirty="0"/>
              <a:t> Name]</a:t>
            </a:r>
          </a:p>
          <a:p>
            <a:pPr>
              <a:spcBef>
                <a:spcPts val="500"/>
              </a:spcBef>
              <a:defRPr sz="1100" b="0">
                <a:solidFill>
                  <a:srgbClr val="0F172A"/>
                </a:solidFill>
                <a:latin typeface="Segoe UI"/>
              </a:defRPr>
            </a:pPr>
            <a:r>
              <a:rPr dirty="0"/>
              <a:t>4. [Teammate </a:t>
            </a:r>
            <a:r>
              <a:rPr lang="en-IN" dirty="0"/>
              <a:t>4</a:t>
            </a:r>
            <a:r>
              <a:rPr dirty="0"/>
              <a:t> Name]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RIMS — Rental Item Management System  •  Project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F46E5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What is RIMS?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A unified web platform designed to streamline commercial equipment rentals with complete transparency.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Core Objectives</a:t>
            </a:r>
          </a:p>
          <a:p>
            <a:pPr>
              <a:spcBef>
                <a:spcPts val="800"/>
              </a:spcBef>
              <a:defRPr sz="1100" b="1">
                <a:solidFill>
                  <a:srgbClr val="4F46E5"/>
                </a:solidFill>
              </a:defRPr>
            </a:pPr>
            <a:r>
              <a:t>•  Simplified Asset Leasing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Connects equipment owners (studios, construction, IT) with verified customers.</a:t>
            </a:r>
          </a:p>
          <a:p>
            <a:pPr>
              <a:spcBef>
                <a:spcPts val="800"/>
              </a:spcBef>
              <a:defRPr sz="1100" b="1">
                <a:solidFill>
                  <a:srgbClr val="4F46E5"/>
                </a:solidFill>
              </a:defRPr>
            </a:pPr>
            <a:r>
              <a:t>•  Eliminate Manual Disputes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Automates rental duration calculations, fees, and refundable security deposits.</a:t>
            </a:r>
          </a:p>
          <a:p>
            <a:pPr>
              <a:spcBef>
                <a:spcPts val="800"/>
              </a:spcBef>
              <a:defRPr sz="1100" b="1">
                <a:solidFill>
                  <a:srgbClr val="4F46E5"/>
                </a:solidFill>
              </a:defRPr>
            </a:pPr>
            <a:r>
              <a:t>•  Prevent Stock Drift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Synchronizes inventory instantly when equipment is rented and checked back in.</a:t>
            </a:r>
          </a:p>
          <a:p>
            <a:pPr>
              <a:spcBef>
                <a:spcPts val="800"/>
              </a:spcBef>
              <a:defRPr sz="1100" b="1">
                <a:solidFill>
                  <a:srgbClr val="4F46E5"/>
                </a:solidFill>
              </a:defRPr>
            </a:pPr>
            <a:r>
              <a:t>•  Clean Role Isolation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Provides separate, purpose-built interfaces for buyers, vendors, and admins.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Key System Capabilities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✓  Unique Hardware SKUs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Every piece of equipment has a distinct code (e.g., RIMS-CAM-8001).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✓  Live Razorpay Escrow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Customer deposits are protected and automatically refunded after return.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✓  Single &amp; Batch Registration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Sellers can add individual items or bulk equipment simultaneously.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✓  Modern User Experience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Responsive monochrome design with instant Dark and Light mode toggle.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RIMS — Rental Item Management System  •  Project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F46E5"/>
                </a:solidFill>
                <a:latin typeface="Segoe UI"/>
              </a:defRPr>
            </a:pPr>
            <a:r>
              <a:t>USER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Three Dedicated Stakeholder Portals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Dedicated interfaces ensure security, ease of use, and strict role permissions.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30632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2011680"/>
            <a:ext cx="1828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CUSTOMER / BUYER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URL: /login/buyer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2880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 Browse catalog with live search &amp; filters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 Hover mouse on items to view technical specs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 Choose rental start &amp; return dates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 Pay securely through Razorpay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 Initiate returns with courier/drop-off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645920"/>
            <a:ext cx="33375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62856" y="1783080"/>
            <a:ext cx="306324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54296" y="2011680"/>
            <a:ext cx="182880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</a:defRPr>
            </a:pPr>
            <a:r>
              <a:t>INSTITUTIONAL SELLER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377440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URL: /login/seller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834640"/>
            <a:ext cx="2880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 Onboard equipment (single or batch form)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 Upload multiple photos per item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 Monitor who rented what in the rentals ledger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 One-click 'Publish / Pause' item visibility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 Click 'Check-in &amp; Restock' to restore stock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645920"/>
            <a:ext cx="33375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57032" y="1783080"/>
            <a:ext cx="30632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48472" y="2011680"/>
            <a:ext cx="1828800" cy="292608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7C3AED"/>
                </a:solidFill>
              </a:defRPr>
            </a:pPr>
            <a:r>
              <a:t>SUDO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377440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URL: /login/admin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834640"/>
            <a:ext cx="2880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 Root overview of platform statistics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 Inspect all users in database (names, phones, roles)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 Delist or permanently remove obsolete items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 Audit platform-wide transactions &amp; orders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RIMS — Rental Item Management System  •  Project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F46E5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Simple System Architecture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Built on a robust, industry-standard modern Java stack with zero extra setup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2103120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Frontend Interface</a:t>
            </a:r>
          </a:p>
          <a:p>
            <a:pPr algn="ctr">
              <a:defRPr sz="950">
                <a:solidFill>
                  <a:srgbClr val="0F172A"/>
                </a:solidFill>
              </a:defRPr>
            </a:pPr>
            <a:r>
              <a:t>Thymeleaf + Tailwind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334155"/>
                </a:solidFill>
              </a:defRPr>
            </a:pPr>
            <a:r>
              <a:t>Responsive web UI with real-time Dark/Light theme switcher, Lucide icons, and celebratory checkout confetti.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4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66744" y="1874519"/>
            <a:ext cx="2103120" cy="7772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Backend Logic</a:t>
            </a:r>
          </a:p>
          <a:p>
            <a:pPr algn="ctr">
              <a:defRPr sz="950">
                <a:solidFill>
                  <a:srgbClr val="0F172A"/>
                </a:solidFill>
              </a:defRPr>
            </a:pPr>
            <a:r>
              <a:t>Java 21 + Spring Boot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6744" y="292608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334155"/>
                </a:solidFill>
              </a:defRPr>
            </a:pPr>
            <a:r>
              <a:t>MVC architecture handling rental calculations, stock management, session security, and role-based access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19088" y="1874519"/>
            <a:ext cx="210312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Relational Database</a:t>
            </a:r>
          </a:p>
          <a:p>
            <a:pPr algn="ctr">
              <a:defRPr sz="950">
                <a:solidFill>
                  <a:srgbClr val="0F172A"/>
                </a:solidFill>
              </a:defRPr>
            </a:pPr>
            <a:r>
              <a:t>Persistent H2 SQL /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92608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334155"/>
                </a:solidFill>
              </a:defRPr>
            </a:pPr>
            <a:r>
              <a:t>Persistent local SQL storage (saves across restarts). Easily swappable to PostgreSQL or MySQL for production.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2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71432" y="1874519"/>
            <a:ext cx="2103120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Payment &amp; Escrow</a:t>
            </a:r>
          </a:p>
          <a:p>
            <a:pPr algn="ctr">
              <a:defRPr sz="950">
                <a:solidFill>
                  <a:srgbClr val="0F172A"/>
                </a:solidFill>
              </a:defRPr>
            </a:pPr>
            <a:r>
              <a:t>Razorpay Payment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92608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334155"/>
                </a:solidFill>
              </a:defRPr>
            </a:pPr>
            <a:r>
              <a:t>Secure checkout handling card/UPI payments with HMAC-SHA256 signature verification and simulated test mode.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RIMS — Rental Item Management System  •  Project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F46E5"/>
                </a:solidFill>
                <a:latin typeface="Segoe UI"/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Rental &amp; Return Lifecycle in 4 Steps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A streamlined process from booking equipment to returning it and restocking inventory.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1847088"/>
            <a:ext cx="2011680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Step 1: Select &amp;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87451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Customer picks gear and specifies rental dates. The system calculates duration and total fees.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072865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2990088"/>
            <a:ext cx="2011680" cy="5486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D97706"/>
                </a:solidFill>
              </a:defRPr>
            </a:pPr>
            <a:r>
              <a:t>Step 2: Pay &amp; Escrow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0175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Customer completes payment via Razorpay. Security deposit is safely locked in escrow.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72865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5840" y="4133087"/>
            <a:ext cx="2011680" cy="5486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F46E5"/>
                </a:solidFill>
              </a:defRPr>
            </a:pPr>
            <a:r>
              <a:t>Step 3: Return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1605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After using the gear, customer clicks 'Initiate Return' on their digital receipt.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1072865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5840" y="5276088"/>
            <a:ext cx="201168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Step 4: Check-in &amp; Restock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3035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Seller confirms receipt. Stock is automatically incremented and deposit is refunded.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RIMS — Rental Item Management System  •  Project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F46E5"/>
                </a:solidFill>
                <a:latin typeface="Segoe UI"/>
              </a:defRPr>
            </a:pPr>
            <a:r>
              <a:t>BILLING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Dual-Component Pricing &amp; Escrow Model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Clear separation of rental charges and refundable deposits ensures financial trust.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How the Price is Calculated</a:t>
            </a:r>
          </a:p>
          <a:p>
            <a:pPr>
              <a:spcBef>
                <a:spcPts val="800"/>
              </a:spcBef>
              <a:defRPr sz="1100" b="1">
                <a:solidFill>
                  <a:srgbClr val="4F46E5"/>
                </a:solidFill>
              </a:defRPr>
            </a:pPr>
            <a:r>
              <a:t>•  Rental Duration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 Duration = End Date − Start Date (in days)</a:t>
            </a:r>
          </a:p>
          <a:p>
            <a:pPr>
              <a:spcBef>
                <a:spcPts val="800"/>
              </a:spcBef>
              <a:defRPr sz="1100" b="1">
                <a:solidFill>
                  <a:srgbClr val="4F46E5"/>
                </a:solidFill>
              </a:defRPr>
            </a:pPr>
            <a:r>
              <a:t>•  Rental Charges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 Daily Rate × Quantity × Duration</a:t>
            </a:r>
          </a:p>
          <a:p>
            <a:pPr>
              <a:spcBef>
                <a:spcPts val="800"/>
              </a:spcBef>
              <a:defRPr sz="1100" b="1">
                <a:solidFill>
                  <a:srgbClr val="4F46E5"/>
                </a:solidFill>
              </a:defRPr>
            </a:pPr>
            <a:r>
              <a:t>•  Security Deposit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 Deposit Per Unit × Quantity (Held in Escrow)</a:t>
            </a:r>
          </a:p>
          <a:p>
            <a:pPr>
              <a:spcBef>
                <a:spcPts val="800"/>
              </a:spcBef>
              <a:defRPr sz="1100" b="1">
                <a:solidFill>
                  <a:srgbClr val="4F46E5"/>
                </a:solidFill>
              </a:defRPr>
            </a:pPr>
            <a:r>
              <a:t>•  Final Amount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 Rental Charges + Security Deposit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Sample Order Breakdown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✓  Item Rented: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 RED Cinema Camera (1 unit for 5 days)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✓  Rental Rate: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 ₹450 / day  →  ₹2,250 (Vendor Revenue)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✓  Security Deposit: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 ₹1,500 (Locked in Escrow)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✓  Total Paid at Checkout: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 ₹3,750 via Razorpay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✓  After Hardware Return: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 ₹1,500 deposit refunded to buyer instantly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RIMS — Rental Item Management System  •  Project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F46E5"/>
                </a:solidFill>
                <a:latin typeface="Segoe UI"/>
              </a:defRPr>
            </a:pPr>
            <a:r>
              <a:t>STANDOUT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Key Technical Highlights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Features that make RIMS reliable, practical, and production-ready.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0120" y="1874519"/>
            <a:ext cx="292608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Immutable Order Snapshots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334155"/>
                </a:solidFill>
              </a:defRPr>
            </a:pPr>
            <a:r>
              <a:t>Product codes and names are preserved on receipts so price changes never alter past order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46520" y="1874519"/>
            <a:ext cx="292608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Automated Stock Replenishment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317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334155"/>
                </a:solidFill>
              </a:defRPr>
            </a:pPr>
            <a:r>
              <a:t>When a seller marks items as returned, available inventory stock immediately resets (+Qty).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0120" y="4114800"/>
            <a:ext cx="2926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Dynamic Batch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72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334155"/>
                </a:solidFill>
              </a:defRPr>
            </a:pPr>
            <a:r>
              <a:t>Sellers can add multiple equipment items at once using an interactive multi-row form.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8620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46520" y="4114800"/>
            <a:ext cx="292608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C3AED"/>
                </a:solidFill>
              </a:defRPr>
            </a:pPr>
            <a:r>
              <a:t>Admin Root Transparency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572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334155"/>
                </a:solidFill>
              </a:defRPr>
            </a:pPr>
            <a:r>
              <a:t>Administrators can inspect all database users and delist obsolete equipment in one click.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RIMS — Rental Item Management System  •  Project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35508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38348" y="2644170"/>
            <a:ext cx="73149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1500" b="1">
                <a:solidFill>
                  <a:srgbClr val="4F46E5"/>
                </a:solidFill>
              </a:defRPr>
            </a:pPr>
            <a:r>
              <a:rPr sz="9600" dirty="0">
                <a:latin typeface="Arial Black" panose="020B0A04020102020204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930</Words>
  <Application>Microsoft Office PowerPoint</Application>
  <PresentationFormat>Widescreen</PresentationFormat>
  <Paragraphs>132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Eby Mathew</cp:lastModifiedBy>
  <cp:revision>1</cp:revision>
  <dcterms:created xsi:type="dcterms:W3CDTF">2013-01-27T09:14:16Z</dcterms:created>
  <dcterms:modified xsi:type="dcterms:W3CDTF">2026-10-08T18:39:44Z</dcterms:modified>
  <cp:category/>
</cp:coreProperties>
</file>